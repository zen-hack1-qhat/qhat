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pPr indent="0" marL="0">
              <a:buNone/>
            </a:pPr>
            <a:r>
              <a:rPr lang="en-US" sz="1100" i="1" spc="2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228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3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Qhat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2377440" y="1371600"/>
            <a:ext cx="82296" cy="82296"/>
          </a:xfrm>
          <a:prstGeom prst="ellipse">
            <a:avLst/>
          </a:prstGeom>
          <a:solidFill>
            <a:srgbClr val="C9A548"/>
          </a:solidFill>
          <a:ln w="12700">
            <a:solidFill>
              <a:srgbClr val="C9A5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06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会話の、リハーサル。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対人不安を持つ人が、本番の前に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声で練習できるアプリ。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0" y="914400"/>
            <a:ext cx="0" cy="3108960"/>
          </a:xfrm>
          <a:prstGeom prst="line">
            <a:avLst/>
          </a:prstGeom>
          <a:noFill/>
          <a:ln w="9525">
            <a:solidFill>
              <a:srgbClr val="D8D5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5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concept 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3716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200" u="sng" dirty="0">
                <a:solidFill>
                  <a:srgbClr val="C9A548"/>
                </a:solidFill>
                <a:uFill>
                  <a:solidFill>
                    <a:srgbClr val="C9A548"/>
                  </a:solidFill>
                </a:u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リハーサル</a:t>
            </a:r>
            <a:pPr indent="0" marL="0">
              <a:lnSpc>
                <a:spcPct val="1400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から、</a:t>
            </a:r>
            <a:endParaRPr lang="en-US" sz="3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本番へ。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i="1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量子認知(Quantum Cognition)理論を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i="1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応用した、新しい対話練習。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7863840" cy="0"/>
          </a:xfrm>
          <a:prstGeom prst="line">
            <a:avLst/>
          </a:prstGeom>
          <a:noFill/>
          <a:ln w="6350">
            <a:solidFill>
              <a:srgbClr val="D8D5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5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hack-1 grand prix 2026 / team qhat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pPr indent="0" marL="0">
              <a:buNone/>
            </a:pPr>
            <a:r>
              <a:rPr lang="en-US" sz="1100" i="1" spc="2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228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3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話したいのに、</a:t>
            </a:r>
            <a:pPr indent="0" marL="0">
              <a:buNone/>
            </a:pPr>
            <a:r>
              <a:rPr lang="en-US" sz="2800" b="1" u="sng" dirty="0">
                <a:solidFill>
                  <a:srgbClr val="C9A548"/>
                </a:solidFill>
                <a:uFill>
                  <a:solidFill>
                    <a:srgbClr val="C9A548"/>
                  </a:solidFill>
                </a:u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声が出ない</a:t>
            </a:r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11680" y="1444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の大学生が中等度以上の社交不安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愛媛大 三浦 2019, LSAS-J, n=893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11680" y="23134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の20代が孤独感あり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内閣府 孤独・孤立調査 2024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12.1%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11680" y="3182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が「対人関係がうまくいかない」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全国大学生協 第60回調査 2025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297680" y="1280160"/>
            <a:ext cx="0" cy="3017520"/>
          </a:xfrm>
          <a:prstGeom prst="line">
            <a:avLst/>
          </a:prstGeom>
          <a:noFill/>
          <a:ln w="6350">
            <a:solidFill>
              <a:srgbClr val="D8D5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280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原体験 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16459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関東オフ会を運営しています。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そこで見てきたのは、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会場に来ても話せない人の姿。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友人や経友からも聞きました。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大人数が苦手で、そもそも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参加しない人がいると。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そこで知ったこと——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会話を「練習する場」が、ない。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pPr indent="0" marL="0">
              <a:buNone/>
            </a:pPr>
            <a:r>
              <a:rPr lang="en-US" sz="1100" i="1" spc="2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228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3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そこで、</a:t>
            </a:r>
            <a:pPr indent="0" marL="0">
              <a:buNone/>
            </a:pPr>
            <a:r>
              <a:rPr lang="en-US" sz="2800" b="1" u="sng" dirty="0">
                <a:solidFill>
                  <a:srgbClr val="C9A548"/>
                </a:solidFill>
                <a:uFill>
                  <a:solidFill>
                    <a:srgbClr val="C9A548"/>
                  </a:solidFill>
                </a:uFill>
                <a:latin typeface="游明朝" pitchFamily="34" charset="0"/>
                <a:ea typeface="游明朝" pitchFamily="34" charset="-122"/>
                <a:cs typeface="游明朝" pitchFamily="34" charset="-120"/>
              </a:rPr>
              <a:t>Qhat</a:t>
            </a:r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i="1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いきなり人だと「嫌われたら？」「気持ち悪いと思われたら？」——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i="1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そんな不安を、AIキャラクターとの音声練習で解消する。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声で練習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34440" y="2834640"/>
            <a:ext cx="457200" cy="0"/>
          </a:xfrm>
          <a:prstGeom prst="line">
            <a:avLst/>
          </a:prstGeom>
          <a:noFill/>
          <a:ln w="12700">
            <a:solidFill>
              <a:srgbClr val="C9A5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テキストじゃなく声。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本番と同じ負荷。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0604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心が見える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457200" cy="0"/>
          </a:xfrm>
          <a:prstGeom prst="line">
            <a:avLst/>
          </a:prstGeom>
          <a:noFill/>
          <a:ln w="12700">
            <a:solidFill>
              <a:srgbClr val="C9A5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相手の感情が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リアルタイムで見える。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↻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何度でもやり直し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32120" y="2834640"/>
            <a:ext cx="457200" cy="0"/>
          </a:xfrm>
          <a:prstGeom prst="line">
            <a:avLst/>
          </a:prstGeom>
          <a:noFill/>
          <a:ln w="12700">
            <a:solidFill>
              <a:srgbClr val="C9A5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失敗OK。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納得するまで録り直し。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0372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向こうから話しかけ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80960" y="2834640"/>
            <a:ext cx="457200" cy="0"/>
          </a:xfrm>
          <a:prstGeom prst="line">
            <a:avLst/>
          </a:prstGeom>
          <a:noFill/>
          <a:ln w="12700">
            <a:solidFill>
              <a:srgbClr val="C9A5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沈黙しても大丈夫。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相手が声をかけてくれる。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703320"/>
            <a:ext cx="7863840" cy="0"/>
          </a:xfrm>
          <a:prstGeom prst="line">
            <a:avLst/>
          </a:prstGeom>
          <a:noFill/>
          <a:ln w="6350">
            <a:solidFill>
              <a:srgbClr val="D8D5C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404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「練習が終わったら、アプリを閉じて外に出る」——それがQhatの成功。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pPr indent="0" marL="0">
              <a:buNone/>
            </a:pPr>
            <a:r>
              <a:rPr lang="en-US" sz="1100" i="1" spc="200" kern="0" dirty="0">
                <a:solidFill>
                  <a:srgbClr val="D0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228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D0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bottleneck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300" kern="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でも、感情の可視化には</a:t>
            </a:r>
            <a:pPr indent="0" marL="0">
              <a:buNone/>
            </a:pPr>
            <a:r>
              <a:rPr lang="en-US" sz="2600" b="1" u="sng" dirty="0">
                <a:solidFill>
                  <a:srgbClr val="C9A548"/>
                </a:solidFill>
                <a:uFill>
                  <a:solidFill>
                    <a:srgbClr val="C9A548"/>
                  </a:solidFill>
                </a:u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壁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がある。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相手の心を「見える化」したい。でも単純な分類では——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矛盾する感情を</a:t>
            </a:r>
          </a:p>
          <a:p>
            <a:r>
              <a:t>1つに潰してしまう</a:t>
            </a:r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2606040" cy="0"/>
          </a:xfrm>
          <a:prstGeom prst="line">
            <a:avLst/>
          </a:prstGeom>
          <a:noFill/>
          <a:ln w="6350">
            <a:solidFill>
              <a:srgbClr val="60606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560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「嬉しいけど不安」な状態を、</a:t>
            </a:r>
          </a:p>
          <a:p>
            <a:r>
              <a:t>単一ラベルでは</a:t>
            </a:r>
          </a:p>
          <a:p>
            <a:r>
              <a:t>表しにくい。</a:t>
            </a:r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1783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文脈で受け取りが</a:t>
            </a:r>
          </a:p>
          <a:p>
            <a:r>
              <a:t>変わる</a:t>
            </a:r>
          </a:p>
        </p:txBody>
      </p:sp>
      <p:sp>
        <p:nvSpPr>
          <p:cNvPr id="13" name="Shape 11"/>
          <p:cNvSpPr/>
          <p:nvPr/>
        </p:nvSpPr>
        <p:spPr>
          <a:xfrm>
            <a:off x="3383280" y="2423160"/>
            <a:ext cx="2606040" cy="0"/>
          </a:xfrm>
          <a:prstGeom prst="line">
            <a:avLst/>
          </a:prstGeom>
          <a:noFill/>
          <a:ln w="6350">
            <a:solidFill>
              <a:srgbClr val="60606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83280" y="2560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同じ言葉でも、</a:t>
            </a:r>
          </a:p>
          <a:p>
            <a:r>
              <a:t>直前の会話や順番によって</a:t>
            </a:r>
          </a:p>
          <a:p>
            <a:r>
              <a:t>意味が変わる。</a:t>
            </a:r>
          </a:p>
        </p:txBody>
      </p:sp>
      <p:sp>
        <p:nvSpPr>
          <p:cNvPr id="15" name="Text 13"/>
          <p:cNvSpPr/>
          <p:nvPr/>
        </p:nvSpPr>
        <p:spPr>
          <a:xfrm>
            <a:off x="6126480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1783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問いかけることで</a:t>
            </a:r>
          </a:p>
          <a:p>
            <a:r>
              <a:t>状態が形を変える</a:t>
            </a:r>
          </a:p>
        </p:txBody>
      </p:sp>
      <p:sp>
        <p:nvSpPr>
          <p:cNvPr id="17" name="Shape 15"/>
          <p:cNvSpPr/>
          <p:nvPr/>
        </p:nvSpPr>
        <p:spPr>
          <a:xfrm>
            <a:off x="6126480" y="2423160"/>
            <a:ext cx="2606040" cy="0"/>
          </a:xfrm>
          <a:prstGeom prst="line">
            <a:avLst/>
          </a:prstGeom>
          <a:noFill/>
          <a:ln w="6350">
            <a:solidFill>
              <a:srgbClr val="60606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126480" y="2560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「どう思った？」と聞かれた瞬間に、</a:t>
            </a:r>
          </a:p>
          <a:p>
            <a:r>
              <a:t>人は自分の感情を整理し、</a:t>
            </a:r>
          </a:p>
          <a:p>
            <a:r>
              <a:t>答えの形を作りはじめる。</a:t>
            </a:r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7863840" cy="0"/>
          </a:xfrm>
          <a:prstGeom prst="line">
            <a:avLst/>
          </a:prstGeom>
          <a:noFill/>
          <a:ln w="6350">
            <a:solidFill>
              <a:srgbClr val="60606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39319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→ Qhatは量子認知理論に着想を得て、感情を「1つの答え」ではなく「揺らぐ分布」として扱う。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pPr indent="0" marL="0">
              <a:buNone/>
            </a:pPr>
            <a:r>
              <a:rPr lang="en-US" sz="1100" i="1" spc="2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228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3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量子認知理論に着想を得て、感情の揺らぎを扱う。</a:t>
            </a:r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17520" y="1463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単純な分類</a:t>
            </a:r>
          </a:p>
        </p:txBody>
      </p:sp>
      <p:sp>
        <p:nvSpPr>
          <p:cNvPr id="8" name="Text 6"/>
          <p:cNvSpPr/>
          <p:nvPr/>
        </p:nvSpPr>
        <p:spPr>
          <a:xfrm>
            <a:off x="5760720" y="1463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Qhat（量子認知に着想）</a:t>
            </a:r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7863840" cy="0"/>
          </a:xfrm>
          <a:prstGeom prst="line">
            <a:avLst/>
          </a:prstGeom>
          <a:noFill/>
          <a:ln w="6350">
            <a:solidFill>
              <a:srgbClr val="D8D5C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1920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矛盾する感情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920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単一ラベルやスコアに</a:t>
            </a:r>
          </a:p>
          <a:p>
            <a:r>
              <a:t>落としやすい</a:t>
            </a:r>
          </a:p>
        </p:txBody>
      </p:sp>
      <p:sp>
        <p:nvSpPr>
          <p:cNvPr id="12" name="Shape 10"/>
          <p:cNvSpPr/>
          <p:nvPr/>
        </p:nvSpPr>
        <p:spPr>
          <a:xfrm>
            <a:off x="5669280" y="1874520"/>
            <a:ext cx="2926080" cy="640080"/>
          </a:xfrm>
          <a:prstGeom prst="rect">
            <a:avLst/>
          </a:prstGeom>
          <a:solidFill>
            <a:srgbClr val="E8D89A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760720" y="1920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複数感情の分布として</a:t>
            </a:r>
          </a:p>
          <a:p>
            <a:r>
              <a:t>矛盾や揺らぎを表現</a:t>
            </a:r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7863840" cy="0"/>
          </a:xfrm>
          <a:prstGeom prst="line">
            <a:avLst/>
          </a:prstGeom>
          <a:noFill/>
          <a:ln w="5080">
            <a:solidFill>
              <a:srgbClr val="D8D5C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2697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順序で変わる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697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前後関係を</a:t>
            </a:r>
          </a:p>
          <a:p>
            <a:r>
              <a:t>説明から落としやすい</a:t>
            </a:r>
          </a:p>
        </p:txBody>
      </p:sp>
      <p:sp>
        <p:nvSpPr>
          <p:cNvPr id="17" name="Shape 15"/>
          <p:cNvSpPr/>
          <p:nvPr/>
        </p:nvSpPr>
        <p:spPr>
          <a:xfrm>
            <a:off x="5669280" y="2651760"/>
            <a:ext cx="2926080" cy="640080"/>
          </a:xfrm>
          <a:prstGeom prst="rect">
            <a:avLst/>
          </a:prstGeom>
          <a:solidFill>
            <a:srgbClr val="E8D89A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760720" y="26974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会話履歴と問い方で</a:t>
            </a:r>
          </a:p>
          <a:p>
            <a:r>
              <a:t>状態変化を見る</a:t>
            </a:r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7863840" cy="0"/>
          </a:xfrm>
          <a:prstGeom prst="line">
            <a:avLst/>
          </a:prstGeom>
          <a:noFill/>
          <a:ln w="5080">
            <a:solidFill>
              <a:srgbClr val="D8D5C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3474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問いで変わる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結果を固定ラベルとして</a:t>
            </a:r>
          </a:p>
          <a:p>
            <a:r>
              <a:t>見せやすい</a:t>
            </a:r>
          </a:p>
        </p:txBody>
      </p:sp>
      <p:sp>
        <p:nvSpPr>
          <p:cNvPr id="22" name="Shape 20"/>
          <p:cNvSpPr/>
          <p:nvPr/>
        </p:nvSpPr>
        <p:spPr>
          <a:xfrm>
            <a:off x="5669280" y="3429000"/>
            <a:ext cx="2926080" cy="640080"/>
          </a:xfrm>
          <a:prstGeom prst="rect">
            <a:avLst/>
          </a:prstGeom>
          <a:solidFill>
            <a:srgbClr val="E8D89A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760720" y="3474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問いかけによって</a:t>
            </a:r>
          </a:p>
          <a:p>
            <a:r>
              <a:t>感情分布が更新される</a:t>
            </a:r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7863840" cy="0"/>
          </a:xfrm>
          <a:prstGeom prst="line">
            <a:avLst/>
          </a:prstGeom>
          <a:noFill/>
          <a:ln w="6350">
            <a:solidFill>
              <a:srgbClr val="D8D5C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43891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脳が量子コンピュータという主張ではない。人の曖昧な判断を説明する認知モデルとして応用。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pPr indent="0" marL="0">
              <a:buNone/>
            </a:pPr>
            <a:r>
              <a:rPr lang="en-US" sz="1100" i="1" spc="2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228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3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Cognition — </a:t>
            </a:r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有力な代替モデル。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i="1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量子確率の数学で人間の判断を記述する研究分野。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i="1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Annual Review of Psychology (2022) に総説が掲載されるレベルの正統な研究プログラム。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順序効果 QQ等式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2219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70件の大規模調査で r=−0.82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24231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Wang et al. 2014, PNAS 111:9431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2587752"/>
            <a:ext cx="7863840" cy="0"/>
          </a:xfrm>
          <a:prstGeom prst="line">
            <a:avLst/>
          </a:prstGeom>
          <a:noFill/>
          <a:ln w="5080">
            <a:solidFill>
              <a:srgbClr val="D8D5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連言錯誤・Sure-Thing違反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9077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古典確率の公理を系統的に破る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31089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Busemeyer et al. 2011, Psych Review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" y="3273552"/>
            <a:ext cx="7863840" cy="0"/>
          </a:xfrm>
          <a:prstGeom prst="line">
            <a:avLst/>
          </a:prstGeom>
          <a:noFill/>
          <a:ln w="5080">
            <a:solidFill>
              <a:srgbClr val="D8D5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83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混合感情の同時保持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5935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嬉しい+悲しいが独立に高い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37947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Larsen et al. 2001, JPSP 81(4)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7863840" cy="0"/>
          </a:xfrm>
          <a:prstGeom prst="line">
            <a:avLst/>
          </a:prstGeom>
          <a:noFill/>
          <a:ln w="6350">
            <a:solidFill>
              <a:srgbClr val="D8D5C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519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9C92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「脳が量子計算機」ではなく「感情の数学モデルとして量子確率が有効」。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pPr indent="0" marL="0">
              <a:buNone/>
            </a:pPr>
            <a:r>
              <a:rPr lang="en-US" sz="1100" i="1" spc="2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228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3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他のアプリと、</a:t>
            </a:r>
            <a:pPr indent="0" marL="0">
              <a:buNone/>
            </a:pPr>
            <a:r>
              <a:rPr lang="en-US" sz="2400" b="1" u="sng" dirty="0">
                <a:solidFill>
                  <a:srgbClr val="C9A548"/>
                </a:solidFill>
                <a:uFill>
                  <a:solidFill>
                    <a:srgbClr val="C9A548"/>
                  </a:solidFill>
                </a:u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3つ</a:t>
            </a:r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違う。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399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目的が違う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14173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Cotomo・Replika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→ 没入・癒し・AI依存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4356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→ リアルへの橋渡し。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　使わなくなったら成功。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7863840" cy="0"/>
          </a:xfrm>
          <a:prstGeom prst="line">
            <a:avLst/>
          </a:prstGeom>
          <a:noFill/>
          <a:ln w="5080">
            <a:solidFill>
              <a:srgbClr val="D8D5C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感情の扱いが違う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2377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一般的な感情分析</a:t>
            </a:r>
          </a:p>
        </p:txBody>
      </p:sp>
      <p:sp>
        <p:nvSpPr>
          <p:cNvPr id="15" name="Text 13"/>
          <p:cNvSpPr/>
          <p:nvPr/>
        </p:nvSpPr>
        <p:spPr>
          <a:xfrm>
            <a:off x="347472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→ 単一ラベルやスコアで表現</a:t>
            </a:r>
          </a:p>
        </p:txBody>
      </p:sp>
      <p:sp>
        <p:nvSpPr>
          <p:cNvPr id="16" name="Text 14"/>
          <p:cNvSpPr/>
          <p:nvPr/>
        </p:nvSpPr>
        <p:spPr>
          <a:xfrm>
            <a:off x="5760720" y="23957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→ 複数感情の分布で表現。</a:t>
            </a:r>
          </a:p>
          <a:p>
            <a:r>
              <a:t>　矛盾感情・揺らぎを見せる。</a:t>
            </a:r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7863840" cy="0"/>
          </a:xfrm>
          <a:prstGeom prst="line">
            <a:avLst/>
          </a:prstGeom>
          <a:noFill/>
          <a:ln w="5080">
            <a:solidFill>
              <a:srgbClr val="D8D5C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319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出口が違う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74720" y="3337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Awarefy・Wysa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→ セルフケアで完結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33558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→ 練習した人をリアルな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　イベント・面接に送り出す。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7863840" cy="0"/>
          </a:xfrm>
          <a:prstGeom prst="line">
            <a:avLst/>
          </a:prstGeom>
          <a:noFill/>
          <a:ln w="6350">
            <a:solidFill>
              <a:srgbClr val="D8D5C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44074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Qhatは、量子認知理論に着想を得た「本番前の会話リハーサル」アプリ。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viii</a:t>
            </a:r>
            <a:pPr indent="0" marL="0">
              <a:buNone/>
            </a:pPr>
            <a:r>
              <a:rPr lang="en-US" sz="1100" i="1" spc="200" kern="0" dirty="0">
                <a:solidFill>
                  <a:srgbClr val="D0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228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D0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300" kern="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個人の会話練習から、組織のコミュニケーション研修へ。</a:t>
            </a:r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201168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60606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個人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0D0D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無料/月¥500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1554480"/>
            <a:ext cx="201168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60606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リアルな場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874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0D0D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オフ会・面接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0" y="1554480"/>
            <a:ext cx="2011680" cy="594360"/>
          </a:xfrm>
          <a:prstGeom prst="rect">
            <a:avLst/>
          </a:prstGeom>
          <a:solidFill>
            <a:srgbClr val="C9A548"/>
          </a:solidFill>
          <a:ln w="9525">
            <a:solidFill>
              <a:srgbClr val="C9A54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8368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企業研修</a:t>
            </a:r>
          </a:p>
        </p:txBody>
      </p:sp>
      <p:sp>
        <p:nvSpPr>
          <p:cNvPr id="14" name="Text 12"/>
          <p:cNvSpPr/>
          <p:nvPr/>
        </p:nvSpPr>
        <p:spPr>
          <a:xfrm>
            <a:off x="6583680" y="1874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新人教育・接客研修</a:t>
            </a:r>
          </a:p>
        </p:txBody>
      </p:sp>
      <p:sp>
        <p:nvSpPr>
          <p:cNvPr id="15" name="Shape 13"/>
          <p:cNvSpPr/>
          <p:nvPr/>
        </p:nvSpPr>
        <p:spPr>
          <a:xfrm>
            <a:off x="2926080" y="1874520"/>
            <a:ext cx="640080" cy="0"/>
          </a:xfrm>
          <a:prstGeom prst="line">
            <a:avLst/>
          </a:prstGeom>
          <a:noFill/>
          <a:ln w="19050">
            <a:solidFill>
              <a:srgbClr val="C9A54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760720" y="1874520"/>
            <a:ext cx="731520" cy="0"/>
          </a:xfrm>
          <a:prstGeom prst="line">
            <a:avLst/>
          </a:prstGeom>
          <a:noFill/>
          <a:ln w="19050">
            <a:solidFill>
              <a:srgbClr val="C9A54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6350">
            <a:solidFill>
              <a:srgbClr val="60606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2743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2743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コミュニティ運営者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743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月¥3万〜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2743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0D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私が第1顧客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0" y="2743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¥3.6億/年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60920" y="2743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コミュニティPF市場 ¥415億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40080" y="3182112"/>
            <a:ext cx="7863840" cy="0"/>
          </a:xfrm>
          <a:prstGeom prst="line">
            <a:avLst/>
          </a:prstGeom>
          <a:noFill/>
          <a:ln w="508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7240" y="3291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3291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大学キャリアセンター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3291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年¥80万〜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80560" y="3291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0D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大学813校が対象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17920" y="32918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D0D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¥6.5億/年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60920" y="3291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キャリア支援予算 ¥103億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40080" y="3730752"/>
            <a:ext cx="7863840" cy="0"/>
          </a:xfrm>
          <a:prstGeom prst="line">
            <a:avLst/>
          </a:prstGeom>
          <a:noFill/>
          <a:ln w="5080">
            <a:solidFill>
              <a:srgbClr val="40404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77240" y="38404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28800" y="3840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企業・人材会社</a:t>
            </a:r>
          </a:p>
        </p:txBody>
      </p:sp>
      <p:sp>
        <p:nvSpPr>
          <p:cNvPr id="34" name="Text 32"/>
          <p:cNvSpPr/>
          <p:nvPr/>
        </p:nvSpPr>
        <p:spPr>
          <a:xfrm>
            <a:off x="3383280" y="38404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年¥500万〜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80560" y="38404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HRTech・研修市場</a:t>
            </a:r>
          </a:p>
        </p:txBody>
      </p:sp>
      <p:sp>
        <p:nvSpPr>
          <p:cNvPr id="36" name="Text 34"/>
          <p:cNvSpPr/>
          <p:nvPr/>
        </p:nvSpPr>
        <p:spPr>
          <a:xfrm>
            <a:off x="6217920" y="3840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D0D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¥15億/年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60920" y="3840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面接・報連相・1on1練習</a:t>
            </a:r>
          </a:p>
        </p:txBody>
      </p:sp>
      <p:sp>
        <p:nvSpPr>
          <p:cNvPr id="38" name="Text 36"/>
          <p:cNvSpPr/>
          <p:nvPr/>
        </p:nvSpPr>
        <p:spPr>
          <a:xfrm>
            <a:off x="640080" y="46177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大学・コミュニティ・企業研修へ展開。安全に失敗できる会話練習インフラを目指す。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ix</a:t>
            </a:r>
            <a:pPr indent="0" marL="0">
              <a:buNone/>
            </a:pPr>
            <a:r>
              <a:rPr lang="en-US" sz="1100" i="1" spc="2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228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300" kern="0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個人から大学、そして企業の新人教育へ。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solidFill>
            <a:srgbClr val="E8D89A">
              <a:alpha val="40000"/>
            </a:srgbClr>
          </a:solidFill>
          <a:ln w="6350">
            <a:solidFill>
              <a:srgbClr val="C9A54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4173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成功指標 GR（卒業率）= 練習後に、実際の会話へ踏み出せた人の割合</a:t>
            </a:r>
          </a:p>
        </p:txBody>
      </p:sp>
      <p:sp>
        <p:nvSpPr>
          <p:cNvPr id="8" name="Shape 6"/>
          <p:cNvSpPr/>
          <p:nvPr/>
        </p:nvSpPr>
        <p:spPr>
          <a:xfrm>
            <a:off x="1188720" y="2743200"/>
            <a:ext cx="6766560" cy="0"/>
          </a:xfrm>
          <a:prstGeom prst="line">
            <a:avLst/>
          </a:prstGeom>
          <a:noFill/>
          <a:ln w="12700">
            <a:solidFill>
              <a:srgbClr val="D8D5C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15568" y="2670048"/>
            <a:ext cx="146304" cy="146304"/>
          </a:xfrm>
          <a:prstGeom prst="ellipse">
            <a:avLst/>
          </a:prstGeom>
          <a:solidFill>
            <a:srgbClr val="C9A548"/>
          </a:solidFill>
          <a:ln w="12700">
            <a:solidFill>
              <a:srgbClr val="C9A54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23042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2026.05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HACK-1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プロト発表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96312" y="269748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947672" y="23042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2026.09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47672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法人化+β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47672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個人1,000人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プレシード調達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87952" y="269748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39312" y="23042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2027.03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39312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大学パイロット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9312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2校契約</a:t>
            </a:r>
          </a:p>
          <a:p>
            <a:r>
              <a:t>就活・新歓前練習</a:t>
            </a:r>
          </a:p>
        </p:txBody>
      </p:sp>
      <p:sp>
        <p:nvSpPr>
          <p:cNvPr id="21" name="Shape 19"/>
          <p:cNvSpPr/>
          <p:nvPr/>
        </p:nvSpPr>
        <p:spPr>
          <a:xfrm>
            <a:off x="5879592" y="269748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330952" y="23042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2027.12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30952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シード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30952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10校契約</a:t>
            </a:r>
          </a:p>
          <a:p>
            <a:r>
              <a:t>企業研修PoC開始</a:t>
            </a:r>
          </a:p>
        </p:txBody>
      </p:sp>
      <p:sp>
        <p:nvSpPr>
          <p:cNvPr id="25" name="Shape 23"/>
          <p:cNvSpPr/>
          <p:nvPr/>
        </p:nvSpPr>
        <p:spPr>
          <a:xfrm>
            <a:off x="7909560" y="269748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60920" y="23042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9C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2028.Q2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60920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シリーズA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60920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30校+法人10社</a:t>
            </a:r>
          </a:p>
          <a:p>
            <a:r>
              <a:t>新人教育へ展開</a:t>
            </a:r>
          </a:p>
        </p:txBody>
      </p:sp>
      <p:sp>
        <p:nvSpPr>
          <p:cNvPr id="29" name="Shape 27"/>
          <p:cNvSpPr/>
          <p:nvPr/>
        </p:nvSpPr>
        <p:spPr>
          <a:xfrm>
            <a:off x="640080" y="4251960"/>
            <a:ext cx="7863840" cy="0"/>
          </a:xfrm>
          <a:prstGeom prst="line">
            <a:avLst/>
          </a:prstGeom>
          <a:noFill/>
          <a:ln w="6350">
            <a:solidFill>
              <a:srgbClr val="D8D5C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0080" y="43891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人と話す前に、安心して失敗できる場所をつくる。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indent="0" marL="0">
              <a:buNone/>
            </a:pPr>
            <a:r>
              <a:rPr lang="en-US" sz="1100" i="1" spc="200" kern="0" dirty="0">
                <a:solidFill>
                  <a:srgbClr val="D0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228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D0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300" kern="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量子 × 対話 × コミュニティ</a:t>
            </a:r>
            <a:pPr indent="0" marL="0">
              <a:buNone/>
            </a:pPr>
            <a:r>
              <a:rPr lang="en-US" sz="2200" dirty="0">
                <a:solidFill>
                  <a:srgbClr val="C9A54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を、同時に持つ。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4114800" cy="201168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9A5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founder 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901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peep史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D8D8D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ZEN University 二年。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D8D8D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関東オフ会サークル運営。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D8D8D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NEDO量子チャレンジ経験。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D8D8D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Qhatの第1顧客。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0" y="1554480"/>
            <a:ext cx="3474720" cy="201168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6916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with 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57800" y="19019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Team Qhat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D8D8D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Claude / Cursor を駆使した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D8D8D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AI時代のものづくり体制。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</a:t>
            </a:r>
            <a:pPr indent="0" marL="0">
              <a:buNone/>
            </a:pPr>
            <a:r>
              <a:rPr lang="en-US" sz="1100" i="1" spc="200" kern="0" dirty="0">
                <a:solidFill>
                  <a:srgbClr val="D0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228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D0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300" kern="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Qhat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783080" y="868680"/>
            <a:ext cx="64008" cy="64008"/>
          </a:xfrm>
          <a:prstGeom prst="ellipse">
            <a:avLst/>
          </a:prstGeom>
          <a:solidFill>
            <a:srgbClr val="C9A548"/>
          </a:solidFill>
          <a:ln w="12700">
            <a:solidFill>
              <a:srgbClr val="C9A5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7863840" cy="0"/>
          </a:xfrm>
          <a:prstGeom prst="line">
            <a:avLst/>
          </a:prstGeom>
          <a:noFill/>
          <a:ln w="6350">
            <a:solidFill>
              <a:srgbClr val="606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0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600" kern="0" dirty="0">
                <a:solidFill>
                  <a:srgbClr val="C9A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thank you 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リハーサルから、</a:t>
            </a:r>
            <a:endParaRPr lang="en-US" sz="3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本番へ。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D8D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練習が終わったら、アプリを閉じて、外に出よう。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CBC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from,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Team Qhat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2026-05-04T05:07:20Z</dcterms:created>
  <dcterms:modified xsi:type="dcterms:W3CDTF">2026-05-04T05:07:20Z</dcterms:modified>
</cp:coreProperties>
</file>